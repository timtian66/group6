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tags/tag15.xml" ContentType="application/vnd.openxmlformats-officedocument.presentationml.tags+xml"/>
  <Override PartName="/ppt/notesSlides/notesSlide3.xml" ContentType="application/vnd.openxmlformats-officedocument.presentationml.notesSlide+xml"/>
  <Override PartName="/ppt/tags/tag16.xml" ContentType="application/vnd.openxmlformats-officedocument.presentationml.tags+xml"/>
  <Override PartName="/ppt/notesSlides/notesSlide4.xml" ContentType="application/vnd.openxmlformats-officedocument.presentationml.notesSlide+xml"/>
  <Override PartName="/ppt/tags/tag17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bookmarkIdSeed="3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691" r:id="rId5"/>
    <p:sldId id="2289" r:id="rId6"/>
    <p:sldId id="2352" r:id="rId7"/>
    <p:sldId id="2353" r:id="rId8"/>
    <p:sldId id="2358" r:id="rId9"/>
    <p:sldId id="2301" r:id="rId10"/>
    <p:sldId id="2359" r:id="rId11"/>
    <p:sldId id="2360" r:id="rId12"/>
    <p:sldId id="2361" r:id="rId13"/>
    <p:sldId id="2362" r:id="rId14"/>
    <p:sldId id="2363" r:id="rId15"/>
    <p:sldId id="2364" r:id="rId16"/>
    <p:sldId id="2365" r:id="rId17"/>
    <p:sldId id="2287" r:id="rId18"/>
  </p:sldIdLst>
  <p:sldSz cx="12192000" cy="6858000"/>
  <p:notesSz cx="6784975" cy="9918700"/>
  <p:custDataLst>
    <p:tags r:id="rId2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0" userDrawn="1">
          <p15:clr>
            <a:srgbClr val="A4A3A4"/>
          </p15:clr>
        </p15:guide>
        <p15:guide id="2" pos="7406" userDrawn="1">
          <p15:clr>
            <a:srgbClr val="A4A3A4"/>
          </p15:clr>
        </p15:guide>
        <p15:guide id="3" orient="horz" pos="4234" userDrawn="1">
          <p15:clr>
            <a:srgbClr val="A4A3A4"/>
          </p15:clr>
        </p15:guide>
        <p15:guide id="4" pos="2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 xp" initials="cx" lastIdx="1" clrIdx="0"/>
  <p:cmAuthor id="2" name="Fengxian WU" initials="F" lastIdx="2" clrIdx="1"/>
  <p:cmAuthor id="75" name="作者" initials="A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EAFE"/>
    <a:srgbClr val="9B0000"/>
    <a:srgbClr val="C00000"/>
    <a:srgbClr val="FFBFBF"/>
    <a:srgbClr val="0F3D8B"/>
    <a:srgbClr val="2E75B6"/>
    <a:srgbClr val="FFFF00"/>
    <a:srgbClr val="D8D8D8"/>
    <a:srgbClr val="7F7F7F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16" autoAdjust="0"/>
    <p:restoredTop sz="88281" autoAdjust="0"/>
  </p:normalViewPr>
  <p:slideViewPr>
    <p:cSldViewPr snapToGrid="0" showGuides="1">
      <p:cViewPr>
        <p:scale>
          <a:sx n="66" d="100"/>
          <a:sy n="66" d="100"/>
        </p:scale>
        <p:origin x="138" y="459"/>
      </p:cViewPr>
      <p:guideLst>
        <p:guide orient="horz" pos="2120"/>
        <p:guide pos="7406"/>
        <p:guide orient="horz" pos="4234"/>
        <p:guide pos="2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0"/>
    </p:cViewPr>
  </p:sorterViewPr>
  <p:notesViewPr>
    <p:cSldViewPr snapToGrid="0">
      <p:cViewPr varScale="1">
        <p:scale>
          <a:sx n="120" d="100"/>
          <a:sy n="120" d="100"/>
        </p:scale>
        <p:origin x="10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0156" cy="4976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3249" y="0"/>
            <a:ext cx="2940156" cy="4976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C7F54C-37C4-4BF4-BFE3-C27AF4B991CA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1044"/>
            <a:ext cx="2940156" cy="4976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3249" y="9421044"/>
            <a:ext cx="2940156" cy="4976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B49DDB-6E2D-4EBF-BA11-33B5981974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0156" cy="4976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3249" y="0"/>
            <a:ext cx="2940156" cy="4976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31F4A4-A522-43EE-BB05-ADEFB8783349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17513" y="1239838"/>
            <a:ext cx="5949950" cy="3348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8498" y="4773374"/>
            <a:ext cx="5427980" cy="39054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1044"/>
            <a:ext cx="2940156" cy="4976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3249" y="9421044"/>
            <a:ext cx="2940156" cy="4976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80470A-4597-4319-87FD-3AB9665446A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12725" y="2302510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550" y="136525"/>
            <a:ext cx="1676400" cy="111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板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341160" y="190525"/>
            <a:ext cx="720000" cy="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2008912" y="568053"/>
            <a:ext cx="74798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646" y="190525"/>
            <a:ext cx="1346194" cy="897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027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97AA5570-5C36-4F12-A1EB-4155A99A166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slideLayout" Target="../slideLayouts/slideLayout9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1228724"/>
            <a:ext cx="12192000" cy="26674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endParaRPr lang="zh-CN" altLang="zh-CN" sz="4000" dirty="0">
              <a:solidFill>
                <a:schemeClr val="bg2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222276"/>
            <a:ext cx="645022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4320" y="1731010"/>
            <a:ext cx="1151318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 Expression–Based Molecular Generation Using </a:t>
            </a:r>
          </a:p>
          <a:p>
            <a:pPr algn="ctr"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Deep Learning</a:t>
            </a:r>
          </a:p>
        </p:txBody>
      </p:sp>
      <p:graphicFrame>
        <p:nvGraphicFramePr>
          <p:cNvPr id="10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350895" y="3978275"/>
          <a:ext cx="8323580" cy="19326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1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6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algn="dist" defTabSz="457200" rtl="0" eaLnBrk="1" latinLnBrk="0" hangingPunct="1">
                        <a:lnSpc>
                          <a:spcPct val="150000"/>
                        </a:lnSpc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50000"/>
                        </a:lnSpc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50000"/>
                        </a:lnSpc>
                      </a:pP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algn="dist" defTabSz="457200" rtl="0" eaLnBrk="1" latinLnBrk="0" hangingPunct="1">
                        <a:lnSpc>
                          <a:spcPct val="150000"/>
                        </a:lnSpc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50000"/>
                        </a:lnSpc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2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Group 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algn="dist" defTabSz="457200" rtl="0" eaLnBrk="1" latinLnBrk="0" hangingPunct="1">
                        <a:lnSpc>
                          <a:spcPct val="150000"/>
                        </a:lnSpc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50000"/>
                        </a:lnSpc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50000"/>
                        </a:lnSpc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1352"/>
    </mc:Choice>
    <mc:Fallback xmlns="">
      <p:transition advTm="2135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61922" y="1827138"/>
            <a:ext cx="12192000" cy="266747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endParaRPr lang="zh-CN" altLang="zh-CN" sz="4000" dirty="0">
              <a:solidFill>
                <a:schemeClr val="bg2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773375" y="2764861"/>
            <a:ext cx="42087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400"/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Research Background</a:t>
            </a: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877577" y="2635693"/>
            <a:ext cx="720000" cy="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1824175" y="3864803"/>
            <a:ext cx="247855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Dataset</a:t>
            </a: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877577" y="3735635"/>
            <a:ext cx="720000" cy="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1824990" y="4964430"/>
            <a:ext cx="38652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Evaluation Metrics</a:t>
            </a:r>
          </a:p>
        </p:txBody>
      </p:sp>
      <p:sp>
        <p:nvSpPr>
          <p:cNvPr id="14" name="矩形 13"/>
          <p:cNvSpPr/>
          <p:nvPr>
            <p:custDataLst>
              <p:tags r:id="rId6"/>
            </p:custDataLst>
          </p:nvPr>
        </p:nvSpPr>
        <p:spPr>
          <a:xfrm>
            <a:off x="877577" y="4835577"/>
            <a:ext cx="720000" cy="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609697" y="630727"/>
            <a:ext cx="3093380" cy="1440135"/>
            <a:chOff x="886602" y="418195"/>
            <a:chExt cx="3093380" cy="1440135"/>
          </a:xfrm>
        </p:grpSpPr>
        <p:sp>
          <p:nvSpPr>
            <p:cNvPr id="18" name="矩形 17"/>
            <p:cNvSpPr/>
            <p:nvPr/>
          </p:nvSpPr>
          <p:spPr>
            <a:xfrm>
              <a:off x="886602" y="418195"/>
              <a:ext cx="720000" cy="720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1066602" y="778195"/>
              <a:ext cx="2913380" cy="1080135"/>
              <a:chOff x="1066602" y="778195"/>
              <a:chExt cx="2913380" cy="1080135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1246307" y="778195"/>
                <a:ext cx="2531110" cy="108013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1066602" y="995616"/>
                <a:ext cx="2913380" cy="64516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3600" b="1" dirty="0">
                    <a:solidFill>
                      <a:schemeClr val="bg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content</a:t>
                </a:r>
              </a:p>
            </p:txBody>
          </p:sp>
        </p:grpSp>
      </p:grp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7240090" y="2702631"/>
            <a:ext cx="42087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400"/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Methodology</a:t>
            </a:r>
          </a:p>
        </p:txBody>
      </p:sp>
      <p:sp>
        <p:nvSpPr>
          <p:cNvPr id="5" name="矩形 4"/>
          <p:cNvSpPr/>
          <p:nvPr>
            <p:custDataLst>
              <p:tags r:id="rId8"/>
            </p:custDataLst>
          </p:nvPr>
        </p:nvSpPr>
        <p:spPr>
          <a:xfrm>
            <a:off x="6344292" y="2573463"/>
            <a:ext cx="720000" cy="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7290890" y="3802573"/>
            <a:ext cx="16230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Result</a:t>
            </a:r>
          </a:p>
        </p:txBody>
      </p:sp>
      <p:sp>
        <p:nvSpPr>
          <p:cNvPr id="8" name="矩形 7"/>
          <p:cNvSpPr/>
          <p:nvPr>
            <p:custDataLst>
              <p:tags r:id="rId10"/>
            </p:custDataLst>
          </p:nvPr>
        </p:nvSpPr>
        <p:spPr>
          <a:xfrm>
            <a:off x="6344292" y="3673405"/>
            <a:ext cx="720000" cy="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1"/>
            </p:custDataLst>
          </p:nvPr>
        </p:nvSpPr>
        <p:spPr>
          <a:xfrm>
            <a:off x="7291705" y="4902200"/>
            <a:ext cx="38652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Conclusion</a:t>
            </a:r>
          </a:p>
        </p:txBody>
      </p:sp>
      <p:sp>
        <p:nvSpPr>
          <p:cNvPr id="10" name="矩形 9"/>
          <p:cNvSpPr/>
          <p:nvPr>
            <p:custDataLst>
              <p:tags r:id="rId12"/>
            </p:custDataLst>
          </p:nvPr>
        </p:nvSpPr>
        <p:spPr>
          <a:xfrm>
            <a:off x="6344292" y="4773347"/>
            <a:ext cx="720000" cy="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1352"/>
    </mc:Choice>
    <mc:Fallback xmlns="">
      <p:transition advTm="2135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36822" y="297442"/>
            <a:ext cx="4760595" cy="52197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 defTabSz="914400"/>
            <a:r>
              <a:rPr lang="en-US" altLang="zh-CN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Research Background</a:t>
            </a:r>
          </a:p>
        </p:txBody>
      </p:sp>
      <p:sp>
        <p:nvSpPr>
          <p:cNvPr id="122" name="灯片编号占位符 18"/>
          <p:cNvSpPr txBox="1"/>
          <p:nvPr/>
        </p:nvSpPr>
        <p:spPr>
          <a:xfrm>
            <a:off x="930275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7AA5570-5C36-4F12-A1EB-4155A99A1666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0" name="矩形: 圆角 359"/>
          <p:cNvSpPr/>
          <p:nvPr/>
        </p:nvSpPr>
        <p:spPr>
          <a:xfrm>
            <a:off x="358140" y="1085215"/>
            <a:ext cx="11398885" cy="5636260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 expression profiles capture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global cellular responses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 drugs or genetic perturbations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They reflect pathway activation and downstream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regulatory changes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Serve as a bridge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linking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chemical structures and biological functions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Traditional molecular generation is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chemistry-centric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Limited ability to incorporate transcriptomic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(gene expression) information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 idea: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Compounds targeting the same gene or pathway tend to produce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similar gene expression profiles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 Enables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 expression-guided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molecular generation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 Provides a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biologically informed direction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 drug design</a:t>
            </a:r>
          </a:p>
        </p:txBody>
      </p:sp>
      <p:sp>
        <p:nvSpPr>
          <p:cNvPr id="363" name="文本框 362"/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364470" y="5613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443"/>
    </mc:Choice>
    <mc:Fallback xmlns="">
      <p:transition advTm="5044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36822" y="297442"/>
            <a:ext cx="4760595" cy="52197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 defTabSz="914400"/>
            <a:r>
              <a:rPr lang="en-US" altLang="zh-CN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Research Background</a:t>
            </a:r>
          </a:p>
        </p:txBody>
      </p:sp>
      <p:sp>
        <p:nvSpPr>
          <p:cNvPr id="122" name="灯片编号占位符 18"/>
          <p:cNvSpPr txBox="1"/>
          <p:nvPr/>
        </p:nvSpPr>
        <p:spPr>
          <a:xfrm>
            <a:off x="930275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7AA5570-5C36-4F12-A1EB-4155A99A1666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0" name="矩形: 圆角 359"/>
          <p:cNvSpPr/>
          <p:nvPr/>
        </p:nvSpPr>
        <p:spPr>
          <a:xfrm>
            <a:off x="358140" y="929640"/>
            <a:ext cx="11398885" cy="5772785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Related Work: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Transcriptome GAN (2020)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First attempt at direct generation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Very low validity (~8.5%)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TRIOMPHE (2021–2024)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Retrieval-based approach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Generate molecules around known structures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GxRNN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(2024)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Direct conditional generation using RNN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Improved stability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3" name="文本框 362"/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364470" y="5613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443"/>
    </mc:Choice>
    <mc:Fallback xmlns="">
      <p:transition advTm="5044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36822" y="297442"/>
            <a:ext cx="1818005" cy="52197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 defTabSz="914400"/>
            <a:r>
              <a:rPr lang="en-US" altLang="zh-CN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Dataset</a:t>
            </a:r>
          </a:p>
        </p:txBody>
      </p:sp>
      <p:sp>
        <p:nvSpPr>
          <p:cNvPr id="122" name="灯片编号占位符 18"/>
          <p:cNvSpPr txBox="1"/>
          <p:nvPr/>
        </p:nvSpPr>
        <p:spPr>
          <a:xfrm>
            <a:off x="930275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7AA5570-5C36-4F12-A1EB-4155A99A1666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0" name="矩形: 圆角 359"/>
          <p:cNvSpPr/>
          <p:nvPr/>
        </p:nvSpPr>
        <p:spPr>
          <a:xfrm>
            <a:off x="358140" y="1085215"/>
            <a:ext cx="11398885" cy="5636260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 expression data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LINCS L1000 (MCF7 cells, 10 µM)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Level 5 consensus signatures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Molecular data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Canonical SMILES from PubChem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Removed sequences with length &gt; 80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 split: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Train : Validation = 9 : 1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Condition inputs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gene knockdowns (e.g., AKT, EGFR, MTOR) and 2 gene overexpression (SMAD3, TP53)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Reference ligands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ExCAPE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-DB for evaluation</a:t>
            </a:r>
          </a:p>
        </p:txBody>
      </p:sp>
      <p:sp>
        <p:nvSpPr>
          <p:cNvPr id="363" name="文本框 362"/>
          <p:cNvSpPr txBox="1"/>
          <p:nvPr/>
        </p:nvSpPr>
        <p:spPr>
          <a:xfrm>
            <a:off x="358346" y="288442"/>
            <a:ext cx="72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364470" y="5613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443"/>
    </mc:Choice>
    <mc:Fallback xmlns="">
      <p:transition advTm="5044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8"/>
          <p:cNvSpPr txBox="1"/>
          <p:nvPr/>
        </p:nvSpPr>
        <p:spPr>
          <a:xfrm>
            <a:off x="930275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7AA5570-5C36-4F12-A1EB-4155A99A1666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136822" y="297442"/>
            <a:ext cx="4175125" cy="82994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 defTabSz="914400"/>
            <a:r>
              <a:rPr lang="en-US" altLang="zh-CN" sz="2800" b="1" spc="3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Evaluation Metrics</a:t>
            </a:r>
            <a:endParaRPr lang="en-US" altLang="zh-CN" sz="28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/>
            <a:endParaRPr lang="zh-CN" altLang="en-US" sz="20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58346" y="288442"/>
            <a:ext cx="72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164" y="3388117"/>
            <a:ext cx="4394835" cy="3110230"/>
          </a:xfrm>
          <a:prstGeom prst="rect">
            <a:avLst/>
          </a:prstGeom>
        </p:spPr>
      </p:pic>
      <p:sp>
        <p:nvSpPr>
          <p:cNvPr id="360" name="矩形: 圆角 359"/>
          <p:cNvSpPr/>
          <p:nvPr/>
        </p:nvSpPr>
        <p:spPr>
          <a:xfrm>
            <a:off x="358140" y="1085215"/>
            <a:ext cx="11398885" cy="2028099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Evaluate similarity between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generated molecules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known ligands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Based on the same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target-specific gene expression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condition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Higher similarity -&gt; better biological relevance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Reflects both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chemical plausibility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 consistency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184"/>
    </mc:Choice>
    <mc:Fallback xmlns="">
      <p:transition spd="slow" advTm="3318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8"/>
          <p:cNvSpPr txBox="1"/>
          <p:nvPr/>
        </p:nvSpPr>
        <p:spPr>
          <a:xfrm>
            <a:off x="930275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7AA5570-5C36-4F12-A1EB-4155A99A1666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136822" y="297442"/>
            <a:ext cx="3034665" cy="82994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 defTabSz="914400"/>
            <a:r>
              <a:rPr lang="en-US" altLang="zh-CN" sz="2800" b="1" spc="3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Methodology</a:t>
            </a:r>
            <a:endParaRPr lang="en-US" altLang="zh-CN" sz="28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/>
            <a:endParaRPr lang="zh-CN" altLang="en-US" sz="20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0" name="矩形: 圆角 359"/>
          <p:cNvSpPr/>
          <p:nvPr/>
        </p:nvSpPr>
        <p:spPr>
          <a:xfrm>
            <a:off x="358140" y="1085215"/>
            <a:ext cx="11398885" cy="1951990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Encode gene expression into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regulatory embeddings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Use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Adaptive </a:t>
            </a:r>
            <a:r>
              <a:rPr lang="en-US" altLang="zh-CN" sz="20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FiLM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 condition molecular features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Feed conditioned features into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LSTM decoder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Generate molecules autoregressively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(SMILES)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037205"/>
            <a:ext cx="10160000" cy="3619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184"/>
    </mc:Choice>
    <mc:Fallback xmlns="">
      <p:transition spd="slow" advTm="3318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8"/>
          <p:cNvSpPr txBox="1"/>
          <p:nvPr/>
        </p:nvSpPr>
        <p:spPr>
          <a:xfrm>
            <a:off x="930275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7AA5570-5C36-4F12-A1EB-4155A99A1666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136822" y="297442"/>
            <a:ext cx="3034665" cy="82994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 defTabSz="914400"/>
            <a:r>
              <a:rPr lang="en-US" altLang="zh-CN" sz="2800" b="1" spc="3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Methodology</a:t>
            </a:r>
            <a:endParaRPr lang="en-US" altLang="zh-CN" sz="28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/>
            <a:endParaRPr lang="zh-CN" altLang="en-US" sz="20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0" name="矩形: 圆角 359"/>
          <p:cNvSpPr/>
          <p:nvPr/>
        </p:nvSpPr>
        <p:spPr>
          <a:xfrm>
            <a:off x="358140" y="1085215"/>
            <a:ext cx="11398885" cy="2465705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Encode high-dimensional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 expression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Capture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gene-gene relationships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Reduce dimensionality into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compact embeddings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Preserve key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biological signals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 used as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conditioning input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l="2029" t="10701" r="47868" b="38847"/>
          <a:stretch>
            <a:fillRect/>
          </a:stretch>
        </p:blipFill>
        <p:spPr>
          <a:xfrm>
            <a:off x="2252080" y="3708100"/>
            <a:ext cx="7687839" cy="27580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184"/>
    </mc:Choice>
    <mc:Fallback xmlns="">
      <p:transition spd="slow" advTm="3318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8"/>
          <p:cNvSpPr txBox="1"/>
          <p:nvPr/>
        </p:nvSpPr>
        <p:spPr>
          <a:xfrm>
            <a:off x="930275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7AA5570-5C36-4F12-A1EB-4155A99A1666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136822" y="297442"/>
            <a:ext cx="3034665" cy="82994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 defTabSz="914400"/>
            <a:r>
              <a:rPr lang="en-US" altLang="zh-CN" sz="2800" b="1" spc="3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Methodology</a:t>
            </a:r>
            <a:endParaRPr lang="en-US" altLang="zh-CN" sz="28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/>
            <a:endParaRPr lang="zh-CN" altLang="en-US" sz="20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0" name="矩形: 圆角 359"/>
          <p:cNvSpPr/>
          <p:nvPr/>
        </p:nvSpPr>
        <p:spPr>
          <a:xfrm>
            <a:off x="358140" y="1085216"/>
            <a:ext cx="11398885" cy="2550614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Integrates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 expression embeddings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into generation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Modulates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SMILES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token features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Uses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feature-wise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scaling and shifting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Includes a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gating mechanism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Enables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dynamic and fine-grained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conditioning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l="2025" t="59629" r="38258" b="4740"/>
          <a:stretch>
            <a:fillRect/>
          </a:stretch>
        </p:blipFill>
        <p:spPr>
          <a:xfrm>
            <a:off x="457000" y="3959093"/>
            <a:ext cx="11278000" cy="23972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184"/>
    </mc:Choice>
    <mc:Fallback xmlns="">
      <p:transition spd="slow" advTm="33184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8"/>
          <p:cNvSpPr txBox="1"/>
          <p:nvPr/>
        </p:nvSpPr>
        <p:spPr>
          <a:xfrm>
            <a:off x="930275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7AA5570-5C36-4F12-A1EB-4155A99A1666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136822" y="297442"/>
            <a:ext cx="1515110" cy="52197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en-US" altLang="zh-CN" sz="2800" b="1" spc="3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Result</a:t>
            </a:r>
            <a:endParaRPr lang="zh-CN" altLang="en-US" sz="20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58346" y="288442"/>
            <a:ext cx="72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0" name="矩形: 圆角 359"/>
          <p:cNvSpPr/>
          <p:nvPr/>
        </p:nvSpPr>
        <p:spPr>
          <a:xfrm>
            <a:off x="358140" y="1085215"/>
            <a:ext cx="11398885" cy="1556385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Baseline: gradual increase, limited performance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Our model: fast convergence, high validity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Achieves near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100% valid SMILES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 Significant improvement over baseline</a:t>
            </a:r>
          </a:p>
        </p:txBody>
      </p:sp>
      <p:pic>
        <p:nvPicPr>
          <p:cNvPr id="1249855244" name="图片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17312" y="2959783"/>
            <a:ext cx="5319576" cy="3324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rcRect b="12100"/>
          <a:stretch>
            <a:fillRect/>
          </a:stretch>
        </p:blipFill>
        <p:spPr>
          <a:xfrm>
            <a:off x="900430" y="2784030"/>
            <a:ext cx="4874260" cy="367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184"/>
    </mc:Choice>
    <mc:Fallback xmlns="">
      <p:transition spd="slow" advTm="3318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8"/>
          <p:cNvSpPr txBox="1"/>
          <p:nvPr/>
        </p:nvSpPr>
        <p:spPr>
          <a:xfrm>
            <a:off x="930275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7AA5570-5C36-4F12-A1EB-4155A99A1666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136822" y="297442"/>
            <a:ext cx="1515110" cy="52197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en-US" altLang="zh-CN" sz="2800" b="1" spc="3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Result</a:t>
            </a:r>
            <a:endParaRPr lang="zh-CN" altLang="en-US" sz="20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58346" y="288442"/>
            <a:ext cx="72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0" name="矩形: 圆角 359"/>
          <p:cNvSpPr/>
          <p:nvPr/>
        </p:nvSpPr>
        <p:spPr>
          <a:xfrm>
            <a:off x="358346" y="1498826"/>
            <a:ext cx="4561997" cy="3900487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Achieves highest similarity on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6/10 targets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Ranks among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 performers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 most tasks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Generated molecules align well with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target-specific profiles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-&gt; Strong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biological relevance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054" y="981075"/>
            <a:ext cx="6832600" cy="4895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184"/>
    </mc:Choice>
    <mc:Fallback xmlns="">
      <p:transition spd="slow" advTm="33184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8"/>
          <p:cNvSpPr txBox="1"/>
          <p:nvPr/>
        </p:nvSpPr>
        <p:spPr>
          <a:xfrm>
            <a:off x="930275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7AA5570-5C36-4F12-A1EB-4155A99A1666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136822" y="297442"/>
            <a:ext cx="1515110" cy="52197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en-US" altLang="zh-CN" sz="2800" b="1" spc="3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Result</a:t>
            </a:r>
            <a:endParaRPr lang="zh-CN" altLang="en-US" sz="20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58346" y="288442"/>
            <a:ext cx="72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t="4303" b="7833"/>
          <a:stretch>
            <a:fillRect/>
          </a:stretch>
        </p:blipFill>
        <p:spPr>
          <a:xfrm>
            <a:off x="2774950" y="866775"/>
            <a:ext cx="6642100" cy="5913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184"/>
    </mc:Choice>
    <mc:Fallback xmlns="">
      <p:transition spd="slow" advTm="33184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8"/>
          <p:cNvSpPr txBox="1"/>
          <p:nvPr/>
        </p:nvSpPr>
        <p:spPr>
          <a:xfrm>
            <a:off x="930275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7AA5570-5C36-4F12-A1EB-4155A99A1666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136822" y="297442"/>
            <a:ext cx="2531745" cy="52197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en-US" altLang="zh-CN" sz="2800" b="1" spc="3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Conclusion</a:t>
            </a:r>
            <a:endParaRPr lang="zh-CN" altLang="en-US" sz="20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58346" y="288442"/>
            <a:ext cx="72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0" name="矩形: 圆角 359"/>
          <p:cNvSpPr/>
          <p:nvPr/>
        </p:nvSpPr>
        <p:spPr>
          <a:xfrm>
            <a:off x="396557" y="1660207"/>
            <a:ext cx="11398885" cy="3537585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Proposed a gene expression-conditioned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molecular generation framework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Integrates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GRRM + Adaptive </a:t>
            </a:r>
            <a:r>
              <a:rPr lang="en-US" altLang="zh-CN" sz="24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FiLM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 biological guidance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Achieves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high validity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improved stability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Shows strong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structural similarity performance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Provides a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promising direction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 drug design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184"/>
    </mc:Choice>
    <mc:Fallback xmlns="">
      <p:transition spd="slow" advTm="33184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25"/>
          <p:cNvSpPr/>
          <p:nvPr/>
        </p:nvSpPr>
        <p:spPr>
          <a:xfrm rot="10800000">
            <a:off x="2496042" y="1305082"/>
            <a:ext cx="8258441" cy="4597885"/>
          </a:xfrm>
          <a:custGeom>
            <a:avLst/>
            <a:gdLst>
              <a:gd name="connsiteX0" fmla="*/ 6762786 w 6826313"/>
              <a:gd name="connsiteY0" fmla="*/ 1876457 h 4508626"/>
              <a:gd name="connsiteX1" fmla="*/ 6826313 w 6826313"/>
              <a:gd name="connsiteY1" fmla="*/ 1876457 h 4508626"/>
              <a:gd name="connsiteX2" fmla="*/ 6826313 w 6826313"/>
              <a:gd name="connsiteY2" fmla="*/ 2139756 h 4508626"/>
              <a:gd name="connsiteX3" fmla="*/ 6762786 w 6826313"/>
              <a:gd name="connsiteY3" fmla="*/ 2139756 h 4508626"/>
              <a:gd name="connsiteX4" fmla="*/ 0 w 6826313"/>
              <a:gd name="connsiteY4" fmla="*/ 0 h 4508626"/>
              <a:gd name="connsiteX5" fmla="*/ 6826313 w 6826313"/>
              <a:gd name="connsiteY5" fmla="*/ 0 h 4508626"/>
              <a:gd name="connsiteX6" fmla="*/ 6826313 w 6826313"/>
              <a:gd name="connsiteY6" fmla="*/ 959382 h 4508626"/>
              <a:gd name="connsiteX7" fmla="*/ 6762786 w 6826313"/>
              <a:gd name="connsiteY7" fmla="*/ 959382 h 4508626"/>
              <a:gd name="connsiteX8" fmla="*/ 6762786 w 6826313"/>
              <a:gd name="connsiteY8" fmla="*/ 63527 h 4508626"/>
              <a:gd name="connsiteX9" fmla="*/ 63527 w 6826313"/>
              <a:gd name="connsiteY9" fmla="*/ 63527 h 4508626"/>
              <a:gd name="connsiteX10" fmla="*/ 63527 w 6826313"/>
              <a:gd name="connsiteY10" fmla="*/ 4445099 h 4508626"/>
              <a:gd name="connsiteX11" fmla="*/ 6762786 w 6826313"/>
              <a:gd name="connsiteY11" fmla="*/ 4445099 h 4508626"/>
              <a:gd name="connsiteX12" fmla="*/ 6762786 w 6826313"/>
              <a:gd name="connsiteY12" fmla="*/ 3756057 h 4508626"/>
              <a:gd name="connsiteX13" fmla="*/ 6826313 w 6826313"/>
              <a:gd name="connsiteY13" fmla="*/ 3756057 h 4508626"/>
              <a:gd name="connsiteX14" fmla="*/ 6826313 w 6826313"/>
              <a:gd name="connsiteY14" fmla="*/ 4508626 h 4508626"/>
              <a:gd name="connsiteX15" fmla="*/ 0 w 6826313"/>
              <a:gd name="connsiteY15" fmla="*/ 4508626 h 4508626"/>
              <a:gd name="connsiteX0-1" fmla="*/ 6762786 w 6826313"/>
              <a:gd name="connsiteY0-2" fmla="*/ 1876457 h 4508626"/>
              <a:gd name="connsiteX1-3" fmla="*/ 6826313 w 6826313"/>
              <a:gd name="connsiteY1-4" fmla="*/ 1876457 h 4508626"/>
              <a:gd name="connsiteX2-5" fmla="*/ 6826313 w 6826313"/>
              <a:gd name="connsiteY2-6" fmla="*/ 2476058 h 4508626"/>
              <a:gd name="connsiteX3-7" fmla="*/ 6762786 w 6826313"/>
              <a:gd name="connsiteY3-8" fmla="*/ 2139756 h 4508626"/>
              <a:gd name="connsiteX4-9" fmla="*/ 6762786 w 6826313"/>
              <a:gd name="connsiteY4-10" fmla="*/ 1876457 h 4508626"/>
              <a:gd name="connsiteX5-11" fmla="*/ 0 w 6826313"/>
              <a:gd name="connsiteY5-12" fmla="*/ 0 h 4508626"/>
              <a:gd name="connsiteX6-13" fmla="*/ 6826313 w 6826313"/>
              <a:gd name="connsiteY6-14" fmla="*/ 0 h 4508626"/>
              <a:gd name="connsiteX7-15" fmla="*/ 6826313 w 6826313"/>
              <a:gd name="connsiteY7-16" fmla="*/ 959382 h 4508626"/>
              <a:gd name="connsiteX8-17" fmla="*/ 6762786 w 6826313"/>
              <a:gd name="connsiteY8-18" fmla="*/ 959382 h 4508626"/>
              <a:gd name="connsiteX9-19" fmla="*/ 6762786 w 6826313"/>
              <a:gd name="connsiteY9-20" fmla="*/ 63527 h 4508626"/>
              <a:gd name="connsiteX10-21" fmla="*/ 63527 w 6826313"/>
              <a:gd name="connsiteY10-22" fmla="*/ 63527 h 4508626"/>
              <a:gd name="connsiteX11-23" fmla="*/ 63527 w 6826313"/>
              <a:gd name="connsiteY11-24" fmla="*/ 4445099 h 4508626"/>
              <a:gd name="connsiteX12-25" fmla="*/ 6762786 w 6826313"/>
              <a:gd name="connsiteY12-26" fmla="*/ 4445099 h 4508626"/>
              <a:gd name="connsiteX13-27" fmla="*/ 6762786 w 6826313"/>
              <a:gd name="connsiteY13-28" fmla="*/ 3756057 h 4508626"/>
              <a:gd name="connsiteX14-29" fmla="*/ 6826313 w 6826313"/>
              <a:gd name="connsiteY14-30" fmla="*/ 3756057 h 4508626"/>
              <a:gd name="connsiteX15-31" fmla="*/ 6826313 w 6826313"/>
              <a:gd name="connsiteY15-32" fmla="*/ 4508626 h 4508626"/>
              <a:gd name="connsiteX16" fmla="*/ 0 w 6826313"/>
              <a:gd name="connsiteY16" fmla="*/ 4508626 h 4508626"/>
              <a:gd name="connsiteX17" fmla="*/ 0 w 6826313"/>
              <a:gd name="connsiteY17" fmla="*/ 0 h 4508626"/>
              <a:gd name="connsiteX0-33" fmla="*/ 6762786 w 6826313"/>
              <a:gd name="connsiteY0-34" fmla="*/ 1876457 h 4508626"/>
              <a:gd name="connsiteX1-35" fmla="*/ 6826313 w 6826313"/>
              <a:gd name="connsiteY1-36" fmla="*/ 1876457 h 4508626"/>
              <a:gd name="connsiteX2-37" fmla="*/ 6826313 w 6826313"/>
              <a:gd name="connsiteY2-38" fmla="*/ 2476058 h 4508626"/>
              <a:gd name="connsiteX3-39" fmla="*/ 6762786 w 6826313"/>
              <a:gd name="connsiteY3-40" fmla="*/ 2455298 h 4508626"/>
              <a:gd name="connsiteX4-41" fmla="*/ 6762786 w 6826313"/>
              <a:gd name="connsiteY4-42" fmla="*/ 1876457 h 4508626"/>
              <a:gd name="connsiteX5-43" fmla="*/ 0 w 6826313"/>
              <a:gd name="connsiteY5-44" fmla="*/ 0 h 4508626"/>
              <a:gd name="connsiteX6-45" fmla="*/ 6826313 w 6826313"/>
              <a:gd name="connsiteY6-46" fmla="*/ 0 h 4508626"/>
              <a:gd name="connsiteX7-47" fmla="*/ 6826313 w 6826313"/>
              <a:gd name="connsiteY7-48" fmla="*/ 959382 h 4508626"/>
              <a:gd name="connsiteX8-49" fmla="*/ 6762786 w 6826313"/>
              <a:gd name="connsiteY8-50" fmla="*/ 959382 h 4508626"/>
              <a:gd name="connsiteX9-51" fmla="*/ 6762786 w 6826313"/>
              <a:gd name="connsiteY9-52" fmla="*/ 63527 h 4508626"/>
              <a:gd name="connsiteX10-53" fmla="*/ 63527 w 6826313"/>
              <a:gd name="connsiteY10-54" fmla="*/ 63527 h 4508626"/>
              <a:gd name="connsiteX11-55" fmla="*/ 63527 w 6826313"/>
              <a:gd name="connsiteY11-56" fmla="*/ 4445099 h 4508626"/>
              <a:gd name="connsiteX12-57" fmla="*/ 6762786 w 6826313"/>
              <a:gd name="connsiteY12-58" fmla="*/ 4445099 h 4508626"/>
              <a:gd name="connsiteX13-59" fmla="*/ 6762786 w 6826313"/>
              <a:gd name="connsiteY13-60" fmla="*/ 3756057 h 4508626"/>
              <a:gd name="connsiteX14-61" fmla="*/ 6826313 w 6826313"/>
              <a:gd name="connsiteY14-62" fmla="*/ 3756057 h 4508626"/>
              <a:gd name="connsiteX15-63" fmla="*/ 6826313 w 6826313"/>
              <a:gd name="connsiteY15-64" fmla="*/ 4508626 h 4508626"/>
              <a:gd name="connsiteX16-65" fmla="*/ 0 w 6826313"/>
              <a:gd name="connsiteY16-66" fmla="*/ 4508626 h 4508626"/>
              <a:gd name="connsiteX17-67" fmla="*/ 0 w 6826313"/>
              <a:gd name="connsiteY17-68" fmla="*/ 0 h 4508626"/>
              <a:gd name="connsiteX0-69" fmla="*/ 6762786 w 6826313"/>
              <a:gd name="connsiteY0-70" fmla="*/ 1876457 h 4508626"/>
              <a:gd name="connsiteX1-71" fmla="*/ 6826313 w 6826313"/>
              <a:gd name="connsiteY1-72" fmla="*/ 1876457 h 4508626"/>
              <a:gd name="connsiteX2-73" fmla="*/ 6826313 w 6826313"/>
              <a:gd name="connsiteY2-74" fmla="*/ 2476058 h 4508626"/>
              <a:gd name="connsiteX3-75" fmla="*/ 6762786 w 6826313"/>
              <a:gd name="connsiteY3-76" fmla="*/ 2476058 h 4508626"/>
              <a:gd name="connsiteX4-77" fmla="*/ 6762786 w 6826313"/>
              <a:gd name="connsiteY4-78" fmla="*/ 1876457 h 4508626"/>
              <a:gd name="connsiteX5-79" fmla="*/ 0 w 6826313"/>
              <a:gd name="connsiteY5-80" fmla="*/ 0 h 4508626"/>
              <a:gd name="connsiteX6-81" fmla="*/ 6826313 w 6826313"/>
              <a:gd name="connsiteY6-82" fmla="*/ 0 h 4508626"/>
              <a:gd name="connsiteX7-83" fmla="*/ 6826313 w 6826313"/>
              <a:gd name="connsiteY7-84" fmla="*/ 959382 h 4508626"/>
              <a:gd name="connsiteX8-85" fmla="*/ 6762786 w 6826313"/>
              <a:gd name="connsiteY8-86" fmla="*/ 959382 h 4508626"/>
              <a:gd name="connsiteX9-87" fmla="*/ 6762786 w 6826313"/>
              <a:gd name="connsiteY9-88" fmla="*/ 63527 h 4508626"/>
              <a:gd name="connsiteX10-89" fmla="*/ 63527 w 6826313"/>
              <a:gd name="connsiteY10-90" fmla="*/ 63527 h 4508626"/>
              <a:gd name="connsiteX11-91" fmla="*/ 63527 w 6826313"/>
              <a:gd name="connsiteY11-92" fmla="*/ 4445099 h 4508626"/>
              <a:gd name="connsiteX12-93" fmla="*/ 6762786 w 6826313"/>
              <a:gd name="connsiteY12-94" fmla="*/ 4445099 h 4508626"/>
              <a:gd name="connsiteX13-95" fmla="*/ 6762786 w 6826313"/>
              <a:gd name="connsiteY13-96" fmla="*/ 3756057 h 4508626"/>
              <a:gd name="connsiteX14-97" fmla="*/ 6826313 w 6826313"/>
              <a:gd name="connsiteY14-98" fmla="*/ 3756057 h 4508626"/>
              <a:gd name="connsiteX15-99" fmla="*/ 6826313 w 6826313"/>
              <a:gd name="connsiteY15-100" fmla="*/ 4508626 h 4508626"/>
              <a:gd name="connsiteX16-101" fmla="*/ 0 w 6826313"/>
              <a:gd name="connsiteY16-102" fmla="*/ 4508626 h 4508626"/>
              <a:gd name="connsiteX17-103" fmla="*/ 0 w 6826313"/>
              <a:gd name="connsiteY17-104" fmla="*/ 0 h 4508626"/>
              <a:gd name="connsiteX0-105" fmla="*/ 6762786 w 6826313"/>
              <a:gd name="connsiteY0-106" fmla="*/ 1876457 h 4508626"/>
              <a:gd name="connsiteX1-107" fmla="*/ 6826313 w 6826313"/>
              <a:gd name="connsiteY1-108" fmla="*/ 1876457 h 4508626"/>
              <a:gd name="connsiteX2-109" fmla="*/ 6826313 w 6826313"/>
              <a:gd name="connsiteY2-110" fmla="*/ 2476058 h 4508626"/>
              <a:gd name="connsiteX3-111" fmla="*/ 6762786 w 6826313"/>
              <a:gd name="connsiteY3-112" fmla="*/ 2476058 h 4508626"/>
              <a:gd name="connsiteX4-113" fmla="*/ 6762786 w 6826313"/>
              <a:gd name="connsiteY4-114" fmla="*/ 1876457 h 4508626"/>
              <a:gd name="connsiteX5-115" fmla="*/ 0 w 6826313"/>
              <a:gd name="connsiteY5-116" fmla="*/ 0 h 4508626"/>
              <a:gd name="connsiteX6-117" fmla="*/ 6826313 w 6826313"/>
              <a:gd name="connsiteY6-118" fmla="*/ 0 h 4508626"/>
              <a:gd name="connsiteX7-119" fmla="*/ 6826313 w 6826313"/>
              <a:gd name="connsiteY7-120" fmla="*/ 959382 h 4508626"/>
              <a:gd name="connsiteX8-121" fmla="*/ 6762786 w 6826313"/>
              <a:gd name="connsiteY8-122" fmla="*/ 959382 h 4508626"/>
              <a:gd name="connsiteX9-123" fmla="*/ 6762786 w 6826313"/>
              <a:gd name="connsiteY9-124" fmla="*/ 63527 h 4508626"/>
              <a:gd name="connsiteX10-125" fmla="*/ 63527 w 6826313"/>
              <a:gd name="connsiteY10-126" fmla="*/ 63527 h 4508626"/>
              <a:gd name="connsiteX11-127" fmla="*/ 63527 w 6826313"/>
              <a:gd name="connsiteY11-128" fmla="*/ 4445099 h 4508626"/>
              <a:gd name="connsiteX12-129" fmla="*/ 6762786 w 6826313"/>
              <a:gd name="connsiteY12-130" fmla="*/ 4445099 h 4508626"/>
              <a:gd name="connsiteX13-131" fmla="*/ 6762786 w 6826313"/>
              <a:gd name="connsiteY13-132" fmla="*/ 3403147 h 4508626"/>
              <a:gd name="connsiteX14-133" fmla="*/ 6826313 w 6826313"/>
              <a:gd name="connsiteY14-134" fmla="*/ 3756057 h 4508626"/>
              <a:gd name="connsiteX15-135" fmla="*/ 6826313 w 6826313"/>
              <a:gd name="connsiteY15-136" fmla="*/ 4508626 h 4508626"/>
              <a:gd name="connsiteX16-137" fmla="*/ 0 w 6826313"/>
              <a:gd name="connsiteY16-138" fmla="*/ 4508626 h 4508626"/>
              <a:gd name="connsiteX17-139" fmla="*/ 0 w 6826313"/>
              <a:gd name="connsiteY17-140" fmla="*/ 0 h 4508626"/>
              <a:gd name="connsiteX0-141" fmla="*/ 6762786 w 6829816"/>
              <a:gd name="connsiteY0-142" fmla="*/ 1876457 h 4508626"/>
              <a:gd name="connsiteX1-143" fmla="*/ 6826313 w 6829816"/>
              <a:gd name="connsiteY1-144" fmla="*/ 1876457 h 4508626"/>
              <a:gd name="connsiteX2-145" fmla="*/ 6826313 w 6829816"/>
              <a:gd name="connsiteY2-146" fmla="*/ 2476058 h 4508626"/>
              <a:gd name="connsiteX3-147" fmla="*/ 6762786 w 6829816"/>
              <a:gd name="connsiteY3-148" fmla="*/ 2476058 h 4508626"/>
              <a:gd name="connsiteX4-149" fmla="*/ 6762786 w 6829816"/>
              <a:gd name="connsiteY4-150" fmla="*/ 1876457 h 4508626"/>
              <a:gd name="connsiteX5-151" fmla="*/ 0 w 6829816"/>
              <a:gd name="connsiteY5-152" fmla="*/ 0 h 4508626"/>
              <a:gd name="connsiteX6-153" fmla="*/ 6826313 w 6829816"/>
              <a:gd name="connsiteY6-154" fmla="*/ 0 h 4508626"/>
              <a:gd name="connsiteX7-155" fmla="*/ 6826313 w 6829816"/>
              <a:gd name="connsiteY7-156" fmla="*/ 959382 h 4508626"/>
              <a:gd name="connsiteX8-157" fmla="*/ 6762786 w 6829816"/>
              <a:gd name="connsiteY8-158" fmla="*/ 959382 h 4508626"/>
              <a:gd name="connsiteX9-159" fmla="*/ 6762786 w 6829816"/>
              <a:gd name="connsiteY9-160" fmla="*/ 63527 h 4508626"/>
              <a:gd name="connsiteX10-161" fmla="*/ 63527 w 6829816"/>
              <a:gd name="connsiteY10-162" fmla="*/ 63527 h 4508626"/>
              <a:gd name="connsiteX11-163" fmla="*/ 63527 w 6829816"/>
              <a:gd name="connsiteY11-164" fmla="*/ 4445099 h 4508626"/>
              <a:gd name="connsiteX12-165" fmla="*/ 6762786 w 6829816"/>
              <a:gd name="connsiteY12-166" fmla="*/ 4445099 h 4508626"/>
              <a:gd name="connsiteX13-167" fmla="*/ 6762786 w 6829816"/>
              <a:gd name="connsiteY13-168" fmla="*/ 3403147 h 4508626"/>
              <a:gd name="connsiteX14-169" fmla="*/ 6829816 w 6829816"/>
              <a:gd name="connsiteY14-170" fmla="*/ 3415603 h 4508626"/>
              <a:gd name="connsiteX15-171" fmla="*/ 6826313 w 6829816"/>
              <a:gd name="connsiteY15-172" fmla="*/ 4508626 h 4508626"/>
              <a:gd name="connsiteX16-173" fmla="*/ 0 w 6829816"/>
              <a:gd name="connsiteY16-174" fmla="*/ 4508626 h 4508626"/>
              <a:gd name="connsiteX17-175" fmla="*/ 0 w 6829816"/>
              <a:gd name="connsiteY17-176" fmla="*/ 0 h 4508626"/>
              <a:gd name="connsiteX0-177" fmla="*/ 6762786 w 6833319"/>
              <a:gd name="connsiteY0-178" fmla="*/ 1876457 h 4508626"/>
              <a:gd name="connsiteX1-179" fmla="*/ 6826313 w 6833319"/>
              <a:gd name="connsiteY1-180" fmla="*/ 1876457 h 4508626"/>
              <a:gd name="connsiteX2-181" fmla="*/ 6826313 w 6833319"/>
              <a:gd name="connsiteY2-182" fmla="*/ 2476058 h 4508626"/>
              <a:gd name="connsiteX3-183" fmla="*/ 6762786 w 6833319"/>
              <a:gd name="connsiteY3-184" fmla="*/ 2476058 h 4508626"/>
              <a:gd name="connsiteX4-185" fmla="*/ 6762786 w 6833319"/>
              <a:gd name="connsiteY4-186" fmla="*/ 1876457 h 4508626"/>
              <a:gd name="connsiteX5-187" fmla="*/ 0 w 6833319"/>
              <a:gd name="connsiteY5-188" fmla="*/ 0 h 4508626"/>
              <a:gd name="connsiteX6-189" fmla="*/ 6826313 w 6833319"/>
              <a:gd name="connsiteY6-190" fmla="*/ 0 h 4508626"/>
              <a:gd name="connsiteX7-191" fmla="*/ 6826313 w 6833319"/>
              <a:gd name="connsiteY7-192" fmla="*/ 959382 h 4508626"/>
              <a:gd name="connsiteX8-193" fmla="*/ 6762786 w 6833319"/>
              <a:gd name="connsiteY8-194" fmla="*/ 959382 h 4508626"/>
              <a:gd name="connsiteX9-195" fmla="*/ 6762786 w 6833319"/>
              <a:gd name="connsiteY9-196" fmla="*/ 63527 h 4508626"/>
              <a:gd name="connsiteX10-197" fmla="*/ 63527 w 6833319"/>
              <a:gd name="connsiteY10-198" fmla="*/ 63527 h 4508626"/>
              <a:gd name="connsiteX11-199" fmla="*/ 63527 w 6833319"/>
              <a:gd name="connsiteY11-200" fmla="*/ 4445099 h 4508626"/>
              <a:gd name="connsiteX12-201" fmla="*/ 6762786 w 6833319"/>
              <a:gd name="connsiteY12-202" fmla="*/ 4445099 h 4508626"/>
              <a:gd name="connsiteX13-203" fmla="*/ 6762786 w 6833319"/>
              <a:gd name="connsiteY13-204" fmla="*/ 3403147 h 4508626"/>
              <a:gd name="connsiteX14-205" fmla="*/ 6833319 w 6833319"/>
              <a:gd name="connsiteY14-206" fmla="*/ 3394844 h 4508626"/>
              <a:gd name="connsiteX15-207" fmla="*/ 6826313 w 6833319"/>
              <a:gd name="connsiteY15-208" fmla="*/ 4508626 h 4508626"/>
              <a:gd name="connsiteX16-209" fmla="*/ 0 w 6833319"/>
              <a:gd name="connsiteY16-210" fmla="*/ 4508626 h 4508626"/>
              <a:gd name="connsiteX17-211" fmla="*/ 0 w 6833319"/>
              <a:gd name="connsiteY17-212" fmla="*/ 0 h 450862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65" y="connsiteY16-66"/>
              </a:cxn>
              <a:cxn ang="0">
                <a:pos x="connsiteX17-67" y="connsiteY17-68"/>
              </a:cxn>
            </a:cxnLst>
            <a:rect l="l" t="t" r="r" b="b"/>
            <a:pathLst>
              <a:path w="6833319" h="4508626">
                <a:moveTo>
                  <a:pt x="6762786" y="1876457"/>
                </a:moveTo>
                <a:lnTo>
                  <a:pt x="6826313" y="1876457"/>
                </a:lnTo>
                <a:lnTo>
                  <a:pt x="6826313" y="2476058"/>
                </a:lnTo>
                <a:lnTo>
                  <a:pt x="6762786" y="2476058"/>
                </a:lnTo>
                <a:lnTo>
                  <a:pt x="6762786" y="1876457"/>
                </a:lnTo>
                <a:close/>
                <a:moveTo>
                  <a:pt x="0" y="0"/>
                </a:moveTo>
                <a:lnTo>
                  <a:pt x="6826313" y="0"/>
                </a:lnTo>
                <a:lnTo>
                  <a:pt x="6826313" y="959382"/>
                </a:lnTo>
                <a:lnTo>
                  <a:pt x="6762786" y="959382"/>
                </a:lnTo>
                <a:lnTo>
                  <a:pt x="6762786" y="63527"/>
                </a:lnTo>
                <a:lnTo>
                  <a:pt x="63527" y="63527"/>
                </a:lnTo>
                <a:lnTo>
                  <a:pt x="63527" y="4445099"/>
                </a:lnTo>
                <a:lnTo>
                  <a:pt x="6762786" y="4445099"/>
                </a:lnTo>
                <a:lnTo>
                  <a:pt x="6762786" y="3403147"/>
                </a:lnTo>
                <a:lnTo>
                  <a:pt x="6833319" y="3394844"/>
                </a:lnTo>
                <a:cubicBezTo>
                  <a:pt x="6832151" y="3759185"/>
                  <a:pt x="6827481" y="4144285"/>
                  <a:pt x="6826313" y="4508626"/>
                </a:cubicBezTo>
                <a:lnTo>
                  <a:pt x="0" y="4508626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14624" y="2381669"/>
            <a:ext cx="245745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Thank you</a:t>
            </a:r>
          </a:p>
        </p:txBody>
      </p:sp>
      <p:sp>
        <p:nvSpPr>
          <p:cNvPr id="4" name="任意多边形 25"/>
          <p:cNvSpPr/>
          <p:nvPr/>
        </p:nvSpPr>
        <p:spPr>
          <a:xfrm rot="10800000">
            <a:off x="3262047" y="1130497"/>
            <a:ext cx="8258441" cy="4597885"/>
          </a:xfrm>
          <a:custGeom>
            <a:avLst/>
            <a:gdLst>
              <a:gd name="connsiteX0" fmla="*/ 6762786 w 6826313"/>
              <a:gd name="connsiteY0" fmla="*/ 1876457 h 4508626"/>
              <a:gd name="connsiteX1" fmla="*/ 6826313 w 6826313"/>
              <a:gd name="connsiteY1" fmla="*/ 1876457 h 4508626"/>
              <a:gd name="connsiteX2" fmla="*/ 6826313 w 6826313"/>
              <a:gd name="connsiteY2" fmla="*/ 2139756 h 4508626"/>
              <a:gd name="connsiteX3" fmla="*/ 6762786 w 6826313"/>
              <a:gd name="connsiteY3" fmla="*/ 2139756 h 4508626"/>
              <a:gd name="connsiteX4" fmla="*/ 0 w 6826313"/>
              <a:gd name="connsiteY4" fmla="*/ 0 h 4508626"/>
              <a:gd name="connsiteX5" fmla="*/ 6826313 w 6826313"/>
              <a:gd name="connsiteY5" fmla="*/ 0 h 4508626"/>
              <a:gd name="connsiteX6" fmla="*/ 6826313 w 6826313"/>
              <a:gd name="connsiteY6" fmla="*/ 959382 h 4508626"/>
              <a:gd name="connsiteX7" fmla="*/ 6762786 w 6826313"/>
              <a:gd name="connsiteY7" fmla="*/ 959382 h 4508626"/>
              <a:gd name="connsiteX8" fmla="*/ 6762786 w 6826313"/>
              <a:gd name="connsiteY8" fmla="*/ 63527 h 4508626"/>
              <a:gd name="connsiteX9" fmla="*/ 63527 w 6826313"/>
              <a:gd name="connsiteY9" fmla="*/ 63527 h 4508626"/>
              <a:gd name="connsiteX10" fmla="*/ 63527 w 6826313"/>
              <a:gd name="connsiteY10" fmla="*/ 4445099 h 4508626"/>
              <a:gd name="connsiteX11" fmla="*/ 6762786 w 6826313"/>
              <a:gd name="connsiteY11" fmla="*/ 4445099 h 4508626"/>
              <a:gd name="connsiteX12" fmla="*/ 6762786 w 6826313"/>
              <a:gd name="connsiteY12" fmla="*/ 3756057 h 4508626"/>
              <a:gd name="connsiteX13" fmla="*/ 6826313 w 6826313"/>
              <a:gd name="connsiteY13" fmla="*/ 3756057 h 4508626"/>
              <a:gd name="connsiteX14" fmla="*/ 6826313 w 6826313"/>
              <a:gd name="connsiteY14" fmla="*/ 4508626 h 4508626"/>
              <a:gd name="connsiteX15" fmla="*/ 0 w 6826313"/>
              <a:gd name="connsiteY15" fmla="*/ 4508626 h 4508626"/>
              <a:gd name="connsiteX0-1" fmla="*/ 6762786 w 6826313"/>
              <a:gd name="connsiteY0-2" fmla="*/ 1876457 h 4508626"/>
              <a:gd name="connsiteX1-3" fmla="*/ 6826313 w 6826313"/>
              <a:gd name="connsiteY1-4" fmla="*/ 1876457 h 4508626"/>
              <a:gd name="connsiteX2-5" fmla="*/ 6826313 w 6826313"/>
              <a:gd name="connsiteY2-6" fmla="*/ 2476058 h 4508626"/>
              <a:gd name="connsiteX3-7" fmla="*/ 6762786 w 6826313"/>
              <a:gd name="connsiteY3-8" fmla="*/ 2139756 h 4508626"/>
              <a:gd name="connsiteX4-9" fmla="*/ 6762786 w 6826313"/>
              <a:gd name="connsiteY4-10" fmla="*/ 1876457 h 4508626"/>
              <a:gd name="connsiteX5-11" fmla="*/ 0 w 6826313"/>
              <a:gd name="connsiteY5-12" fmla="*/ 0 h 4508626"/>
              <a:gd name="connsiteX6-13" fmla="*/ 6826313 w 6826313"/>
              <a:gd name="connsiteY6-14" fmla="*/ 0 h 4508626"/>
              <a:gd name="connsiteX7-15" fmla="*/ 6826313 w 6826313"/>
              <a:gd name="connsiteY7-16" fmla="*/ 959382 h 4508626"/>
              <a:gd name="connsiteX8-17" fmla="*/ 6762786 w 6826313"/>
              <a:gd name="connsiteY8-18" fmla="*/ 959382 h 4508626"/>
              <a:gd name="connsiteX9-19" fmla="*/ 6762786 w 6826313"/>
              <a:gd name="connsiteY9-20" fmla="*/ 63527 h 4508626"/>
              <a:gd name="connsiteX10-21" fmla="*/ 63527 w 6826313"/>
              <a:gd name="connsiteY10-22" fmla="*/ 63527 h 4508626"/>
              <a:gd name="connsiteX11-23" fmla="*/ 63527 w 6826313"/>
              <a:gd name="connsiteY11-24" fmla="*/ 4445099 h 4508626"/>
              <a:gd name="connsiteX12-25" fmla="*/ 6762786 w 6826313"/>
              <a:gd name="connsiteY12-26" fmla="*/ 4445099 h 4508626"/>
              <a:gd name="connsiteX13-27" fmla="*/ 6762786 w 6826313"/>
              <a:gd name="connsiteY13-28" fmla="*/ 3756057 h 4508626"/>
              <a:gd name="connsiteX14-29" fmla="*/ 6826313 w 6826313"/>
              <a:gd name="connsiteY14-30" fmla="*/ 3756057 h 4508626"/>
              <a:gd name="connsiteX15-31" fmla="*/ 6826313 w 6826313"/>
              <a:gd name="connsiteY15-32" fmla="*/ 4508626 h 4508626"/>
              <a:gd name="connsiteX16" fmla="*/ 0 w 6826313"/>
              <a:gd name="connsiteY16" fmla="*/ 4508626 h 4508626"/>
              <a:gd name="connsiteX17" fmla="*/ 0 w 6826313"/>
              <a:gd name="connsiteY17" fmla="*/ 0 h 4508626"/>
              <a:gd name="connsiteX0-33" fmla="*/ 6762786 w 6826313"/>
              <a:gd name="connsiteY0-34" fmla="*/ 1876457 h 4508626"/>
              <a:gd name="connsiteX1-35" fmla="*/ 6826313 w 6826313"/>
              <a:gd name="connsiteY1-36" fmla="*/ 1876457 h 4508626"/>
              <a:gd name="connsiteX2-37" fmla="*/ 6826313 w 6826313"/>
              <a:gd name="connsiteY2-38" fmla="*/ 2476058 h 4508626"/>
              <a:gd name="connsiteX3-39" fmla="*/ 6762786 w 6826313"/>
              <a:gd name="connsiteY3-40" fmla="*/ 2455298 h 4508626"/>
              <a:gd name="connsiteX4-41" fmla="*/ 6762786 w 6826313"/>
              <a:gd name="connsiteY4-42" fmla="*/ 1876457 h 4508626"/>
              <a:gd name="connsiteX5-43" fmla="*/ 0 w 6826313"/>
              <a:gd name="connsiteY5-44" fmla="*/ 0 h 4508626"/>
              <a:gd name="connsiteX6-45" fmla="*/ 6826313 w 6826313"/>
              <a:gd name="connsiteY6-46" fmla="*/ 0 h 4508626"/>
              <a:gd name="connsiteX7-47" fmla="*/ 6826313 w 6826313"/>
              <a:gd name="connsiteY7-48" fmla="*/ 959382 h 4508626"/>
              <a:gd name="connsiteX8-49" fmla="*/ 6762786 w 6826313"/>
              <a:gd name="connsiteY8-50" fmla="*/ 959382 h 4508626"/>
              <a:gd name="connsiteX9-51" fmla="*/ 6762786 w 6826313"/>
              <a:gd name="connsiteY9-52" fmla="*/ 63527 h 4508626"/>
              <a:gd name="connsiteX10-53" fmla="*/ 63527 w 6826313"/>
              <a:gd name="connsiteY10-54" fmla="*/ 63527 h 4508626"/>
              <a:gd name="connsiteX11-55" fmla="*/ 63527 w 6826313"/>
              <a:gd name="connsiteY11-56" fmla="*/ 4445099 h 4508626"/>
              <a:gd name="connsiteX12-57" fmla="*/ 6762786 w 6826313"/>
              <a:gd name="connsiteY12-58" fmla="*/ 4445099 h 4508626"/>
              <a:gd name="connsiteX13-59" fmla="*/ 6762786 w 6826313"/>
              <a:gd name="connsiteY13-60" fmla="*/ 3756057 h 4508626"/>
              <a:gd name="connsiteX14-61" fmla="*/ 6826313 w 6826313"/>
              <a:gd name="connsiteY14-62" fmla="*/ 3756057 h 4508626"/>
              <a:gd name="connsiteX15-63" fmla="*/ 6826313 w 6826313"/>
              <a:gd name="connsiteY15-64" fmla="*/ 4508626 h 4508626"/>
              <a:gd name="connsiteX16-65" fmla="*/ 0 w 6826313"/>
              <a:gd name="connsiteY16-66" fmla="*/ 4508626 h 4508626"/>
              <a:gd name="connsiteX17-67" fmla="*/ 0 w 6826313"/>
              <a:gd name="connsiteY17-68" fmla="*/ 0 h 4508626"/>
              <a:gd name="connsiteX0-69" fmla="*/ 6762786 w 6826313"/>
              <a:gd name="connsiteY0-70" fmla="*/ 1876457 h 4508626"/>
              <a:gd name="connsiteX1-71" fmla="*/ 6826313 w 6826313"/>
              <a:gd name="connsiteY1-72" fmla="*/ 1876457 h 4508626"/>
              <a:gd name="connsiteX2-73" fmla="*/ 6826313 w 6826313"/>
              <a:gd name="connsiteY2-74" fmla="*/ 2476058 h 4508626"/>
              <a:gd name="connsiteX3-75" fmla="*/ 6762786 w 6826313"/>
              <a:gd name="connsiteY3-76" fmla="*/ 2476058 h 4508626"/>
              <a:gd name="connsiteX4-77" fmla="*/ 6762786 w 6826313"/>
              <a:gd name="connsiteY4-78" fmla="*/ 1876457 h 4508626"/>
              <a:gd name="connsiteX5-79" fmla="*/ 0 w 6826313"/>
              <a:gd name="connsiteY5-80" fmla="*/ 0 h 4508626"/>
              <a:gd name="connsiteX6-81" fmla="*/ 6826313 w 6826313"/>
              <a:gd name="connsiteY6-82" fmla="*/ 0 h 4508626"/>
              <a:gd name="connsiteX7-83" fmla="*/ 6826313 w 6826313"/>
              <a:gd name="connsiteY7-84" fmla="*/ 959382 h 4508626"/>
              <a:gd name="connsiteX8-85" fmla="*/ 6762786 w 6826313"/>
              <a:gd name="connsiteY8-86" fmla="*/ 959382 h 4508626"/>
              <a:gd name="connsiteX9-87" fmla="*/ 6762786 w 6826313"/>
              <a:gd name="connsiteY9-88" fmla="*/ 63527 h 4508626"/>
              <a:gd name="connsiteX10-89" fmla="*/ 63527 w 6826313"/>
              <a:gd name="connsiteY10-90" fmla="*/ 63527 h 4508626"/>
              <a:gd name="connsiteX11-91" fmla="*/ 63527 w 6826313"/>
              <a:gd name="connsiteY11-92" fmla="*/ 4445099 h 4508626"/>
              <a:gd name="connsiteX12-93" fmla="*/ 6762786 w 6826313"/>
              <a:gd name="connsiteY12-94" fmla="*/ 4445099 h 4508626"/>
              <a:gd name="connsiteX13-95" fmla="*/ 6762786 w 6826313"/>
              <a:gd name="connsiteY13-96" fmla="*/ 3756057 h 4508626"/>
              <a:gd name="connsiteX14-97" fmla="*/ 6826313 w 6826313"/>
              <a:gd name="connsiteY14-98" fmla="*/ 3756057 h 4508626"/>
              <a:gd name="connsiteX15-99" fmla="*/ 6826313 w 6826313"/>
              <a:gd name="connsiteY15-100" fmla="*/ 4508626 h 4508626"/>
              <a:gd name="connsiteX16-101" fmla="*/ 0 w 6826313"/>
              <a:gd name="connsiteY16-102" fmla="*/ 4508626 h 4508626"/>
              <a:gd name="connsiteX17-103" fmla="*/ 0 w 6826313"/>
              <a:gd name="connsiteY17-104" fmla="*/ 0 h 4508626"/>
              <a:gd name="connsiteX0-105" fmla="*/ 6762786 w 6826313"/>
              <a:gd name="connsiteY0-106" fmla="*/ 1876457 h 4508626"/>
              <a:gd name="connsiteX1-107" fmla="*/ 6826313 w 6826313"/>
              <a:gd name="connsiteY1-108" fmla="*/ 1876457 h 4508626"/>
              <a:gd name="connsiteX2-109" fmla="*/ 6826313 w 6826313"/>
              <a:gd name="connsiteY2-110" fmla="*/ 2476058 h 4508626"/>
              <a:gd name="connsiteX3-111" fmla="*/ 6762786 w 6826313"/>
              <a:gd name="connsiteY3-112" fmla="*/ 2476058 h 4508626"/>
              <a:gd name="connsiteX4-113" fmla="*/ 6762786 w 6826313"/>
              <a:gd name="connsiteY4-114" fmla="*/ 1876457 h 4508626"/>
              <a:gd name="connsiteX5-115" fmla="*/ 0 w 6826313"/>
              <a:gd name="connsiteY5-116" fmla="*/ 0 h 4508626"/>
              <a:gd name="connsiteX6-117" fmla="*/ 6826313 w 6826313"/>
              <a:gd name="connsiteY6-118" fmla="*/ 0 h 4508626"/>
              <a:gd name="connsiteX7-119" fmla="*/ 6826313 w 6826313"/>
              <a:gd name="connsiteY7-120" fmla="*/ 959382 h 4508626"/>
              <a:gd name="connsiteX8-121" fmla="*/ 6762786 w 6826313"/>
              <a:gd name="connsiteY8-122" fmla="*/ 959382 h 4508626"/>
              <a:gd name="connsiteX9-123" fmla="*/ 6762786 w 6826313"/>
              <a:gd name="connsiteY9-124" fmla="*/ 63527 h 4508626"/>
              <a:gd name="connsiteX10-125" fmla="*/ 63527 w 6826313"/>
              <a:gd name="connsiteY10-126" fmla="*/ 63527 h 4508626"/>
              <a:gd name="connsiteX11-127" fmla="*/ 63527 w 6826313"/>
              <a:gd name="connsiteY11-128" fmla="*/ 4445099 h 4508626"/>
              <a:gd name="connsiteX12-129" fmla="*/ 6762786 w 6826313"/>
              <a:gd name="connsiteY12-130" fmla="*/ 4445099 h 4508626"/>
              <a:gd name="connsiteX13-131" fmla="*/ 6762786 w 6826313"/>
              <a:gd name="connsiteY13-132" fmla="*/ 3403147 h 4508626"/>
              <a:gd name="connsiteX14-133" fmla="*/ 6826313 w 6826313"/>
              <a:gd name="connsiteY14-134" fmla="*/ 3756057 h 4508626"/>
              <a:gd name="connsiteX15-135" fmla="*/ 6826313 w 6826313"/>
              <a:gd name="connsiteY15-136" fmla="*/ 4508626 h 4508626"/>
              <a:gd name="connsiteX16-137" fmla="*/ 0 w 6826313"/>
              <a:gd name="connsiteY16-138" fmla="*/ 4508626 h 4508626"/>
              <a:gd name="connsiteX17-139" fmla="*/ 0 w 6826313"/>
              <a:gd name="connsiteY17-140" fmla="*/ 0 h 4508626"/>
              <a:gd name="connsiteX0-141" fmla="*/ 6762786 w 6829816"/>
              <a:gd name="connsiteY0-142" fmla="*/ 1876457 h 4508626"/>
              <a:gd name="connsiteX1-143" fmla="*/ 6826313 w 6829816"/>
              <a:gd name="connsiteY1-144" fmla="*/ 1876457 h 4508626"/>
              <a:gd name="connsiteX2-145" fmla="*/ 6826313 w 6829816"/>
              <a:gd name="connsiteY2-146" fmla="*/ 2476058 h 4508626"/>
              <a:gd name="connsiteX3-147" fmla="*/ 6762786 w 6829816"/>
              <a:gd name="connsiteY3-148" fmla="*/ 2476058 h 4508626"/>
              <a:gd name="connsiteX4-149" fmla="*/ 6762786 w 6829816"/>
              <a:gd name="connsiteY4-150" fmla="*/ 1876457 h 4508626"/>
              <a:gd name="connsiteX5-151" fmla="*/ 0 w 6829816"/>
              <a:gd name="connsiteY5-152" fmla="*/ 0 h 4508626"/>
              <a:gd name="connsiteX6-153" fmla="*/ 6826313 w 6829816"/>
              <a:gd name="connsiteY6-154" fmla="*/ 0 h 4508626"/>
              <a:gd name="connsiteX7-155" fmla="*/ 6826313 w 6829816"/>
              <a:gd name="connsiteY7-156" fmla="*/ 959382 h 4508626"/>
              <a:gd name="connsiteX8-157" fmla="*/ 6762786 w 6829816"/>
              <a:gd name="connsiteY8-158" fmla="*/ 959382 h 4508626"/>
              <a:gd name="connsiteX9-159" fmla="*/ 6762786 w 6829816"/>
              <a:gd name="connsiteY9-160" fmla="*/ 63527 h 4508626"/>
              <a:gd name="connsiteX10-161" fmla="*/ 63527 w 6829816"/>
              <a:gd name="connsiteY10-162" fmla="*/ 63527 h 4508626"/>
              <a:gd name="connsiteX11-163" fmla="*/ 63527 w 6829816"/>
              <a:gd name="connsiteY11-164" fmla="*/ 4445099 h 4508626"/>
              <a:gd name="connsiteX12-165" fmla="*/ 6762786 w 6829816"/>
              <a:gd name="connsiteY12-166" fmla="*/ 4445099 h 4508626"/>
              <a:gd name="connsiteX13-167" fmla="*/ 6762786 w 6829816"/>
              <a:gd name="connsiteY13-168" fmla="*/ 3403147 h 4508626"/>
              <a:gd name="connsiteX14-169" fmla="*/ 6829816 w 6829816"/>
              <a:gd name="connsiteY14-170" fmla="*/ 3415603 h 4508626"/>
              <a:gd name="connsiteX15-171" fmla="*/ 6826313 w 6829816"/>
              <a:gd name="connsiteY15-172" fmla="*/ 4508626 h 4508626"/>
              <a:gd name="connsiteX16-173" fmla="*/ 0 w 6829816"/>
              <a:gd name="connsiteY16-174" fmla="*/ 4508626 h 4508626"/>
              <a:gd name="connsiteX17-175" fmla="*/ 0 w 6829816"/>
              <a:gd name="connsiteY17-176" fmla="*/ 0 h 4508626"/>
              <a:gd name="connsiteX0-177" fmla="*/ 6762786 w 6833319"/>
              <a:gd name="connsiteY0-178" fmla="*/ 1876457 h 4508626"/>
              <a:gd name="connsiteX1-179" fmla="*/ 6826313 w 6833319"/>
              <a:gd name="connsiteY1-180" fmla="*/ 1876457 h 4508626"/>
              <a:gd name="connsiteX2-181" fmla="*/ 6826313 w 6833319"/>
              <a:gd name="connsiteY2-182" fmla="*/ 2476058 h 4508626"/>
              <a:gd name="connsiteX3-183" fmla="*/ 6762786 w 6833319"/>
              <a:gd name="connsiteY3-184" fmla="*/ 2476058 h 4508626"/>
              <a:gd name="connsiteX4-185" fmla="*/ 6762786 w 6833319"/>
              <a:gd name="connsiteY4-186" fmla="*/ 1876457 h 4508626"/>
              <a:gd name="connsiteX5-187" fmla="*/ 0 w 6833319"/>
              <a:gd name="connsiteY5-188" fmla="*/ 0 h 4508626"/>
              <a:gd name="connsiteX6-189" fmla="*/ 6826313 w 6833319"/>
              <a:gd name="connsiteY6-190" fmla="*/ 0 h 4508626"/>
              <a:gd name="connsiteX7-191" fmla="*/ 6826313 w 6833319"/>
              <a:gd name="connsiteY7-192" fmla="*/ 959382 h 4508626"/>
              <a:gd name="connsiteX8-193" fmla="*/ 6762786 w 6833319"/>
              <a:gd name="connsiteY8-194" fmla="*/ 959382 h 4508626"/>
              <a:gd name="connsiteX9-195" fmla="*/ 6762786 w 6833319"/>
              <a:gd name="connsiteY9-196" fmla="*/ 63527 h 4508626"/>
              <a:gd name="connsiteX10-197" fmla="*/ 63527 w 6833319"/>
              <a:gd name="connsiteY10-198" fmla="*/ 63527 h 4508626"/>
              <a:gd name="connsiteX11-199" fmla="*/ 63527 w 6833319"/>
              <a:gd name="connsiteY11-200" fmla="*/ 4445099 h 4508626"/>
              <a:gd name="connsiteX12-201" fmla="*/ 6762786 w 6833319"/>
              <a:gd name="connsiteY12-202" fmla="*/ 4445099 h 4508626"/>
              <a:gd name="connsiteX13-203" fmla="*/ 6762786 w 6833319"/>
              <a:gd name="connsiteY13-204" fmla="*/ 3403147 h 4508626"/>
              <a:gd name="connsiteX14-205" fmla="*/ 6833319 w 6833319"/>
              <a:gd name="connsiteY14-206" fmla="*/ 3394844 h 4508626"/>
              <a:gd name="connsiteX15-207" fmla="*/ 6826313 w 6833319"/>
              <a:gd name="connsiteY15-208" fmla="*/ 4508626 h 4508626"/>
              <a:gd name="connsiteX16-209" fmla="*/ 0 w 6833319"/>
              <a:gd name="connsiteY16-210" fmla="*/ 4508626 h 4508626"/>
              <a:gd name="connsiteX17-211" fmla="*/ 0 w 6833319"/>
              <a:gd name="connsiteY17-212" fmla="*/ 0 h 450862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65" y="connsiteY16-66"/>
              </a:cxn>
              <a:cxn ang="0">
                <a:pos x="connsiteX17-67" y="connsiteY17-68"/>
              </a:cxn>
            </a:cxnLst>
            <a:rect l="l" t="t" r="r" b="b"/>
            <a:pathLst>
              <a:path w="6833319" h="4508626">
                <a:moveTo>
                  <a:pt x="6762786" y="1876457"/>
                </a:moveTo>
                <a:lnTo>
                  <a:pt x="6826313" y="1876457"/>
                </a:lnTo>
                <a:lnTo>
                  <a:pt x="6826313" y="2476058"/>
                </a:lnTo>
                <a:lnTo>
                  <a:pt x="6762786" y="2476058"/>
                </a:lnTo>
                <a:lnTo>
                  <a:pt x="6762786" y="1876457"/>
                </a:lnTo>
                <a:close/>
                <a:moveTo>
                  <a:pt x="0" y="0"/>
                </a:moveTo>
                <a:lnTo>
                  <a:pt x="6826313" y="0"/>
                </a:lnTo>
                <a:lnTo>
                  <a:pt x="6826313" y="959382"/>
                </a:lnTo>
                <a:lnTo>
                  <a:pt x="6762786" y="959382"/>
                </a:lnTo>
                <a:lnTo>
                  <a:pt x="6762786" y="63527"/>
                </a:lnTo>
                <a:lnTo>
                  <a:pt x="63527" y="63527"/>
                </a:lnTo>
                <a:lnTo>
                  <a:pt x="63527" y="4445099"/>
                </a:lnTo>
                <a:lnTo>
                  <a:pt x="6762786" y="4445099"/>
                </a:lnTo>
                <a:lnTo>
                  <a:pt x="6762786" y="3403147"/>
                </a:lnTo>
                <a:lnTo>
                  <a:pt x="6833319" y="3394844"/>
                </a:lnTo>
                <a:cubicBezTo>
                  <a:pt x="6832151" y="3759185"/>
                  <a:pt x="6827481" y="4144285"/>
                  <a:pt x="6826313" y="4508626"/>
                </a:cubicBezTo>
                <a:lnTo>
                  <a:pt x="0" y="45086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057" y="1704975"/>
            <a:ext cx="4836318" cy="3224212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hiZjRkZDMwZTMyMzI5NmM2MjBhOTBiMWJkNzMyYTg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55*97"/>
  <p:tag name="TABLE_ENDDRAG_RECT" val="286*360*655*9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21212598425194,&quot;left&quot;:69.10055118110236,&quot;top&quot;:207.53488188976377,&quot;width&quot;:404.8852755905512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21212598425194,&quot;left&quot;:69.10055118110236,&quot;top&quot;:207.53488188976377,&quot;width&quot;:404.8852755905512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21212598425194,&quot;left&quot;:69.10055118110236,&quot;top&quot;:207.53488188976377,&quot;width&quot;:404.8852755905512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21212598425194,&quot;left&quot;:69.10055118110236,&quot;top&quot;:207.53488188976377,&quot;width&quot;:404.8852755905512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21212598425194,&quot;left&quot;:69.10055118110236,&quot;top&quot;:207.53488188976377,&quot;width&quot;:404.8852755905512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21212598425194,&quot;left&quot;:69.10055118110236,&quot;top&quot;:207.53488188976377,&quot;width&quot;:404.8852755905512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21212598425194,&quot;left&quot;:69.10055118110236,&quot;top&quot;:207.53488188976377,&quot;width&quot;:404.8852755905512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21212598425194,&quot;left&quot;:69.10055118110236,&quot;top&quot;:207.53488188976377,&quot;width&quot;:404.8852755905512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21212598425194,&quot;left&quot;:69.10055118110236,&quot;top&quot;:207.53488188976377,&quot;width&quot;:404.8852755905512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21212598425194,&quot;left&quot;:69.10055118110236,&quot;top&quot;:207.53488188976377,&quot;width&quot;:404.8852755905512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21212598425194,&quot;left&quot;:69.10055118110236,&quot;top&quot;:207.53488188976377,&quot;width&quot;:404.8852755905512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21212598425194,&quot;left&quot;:69.10055118110236,&quot;top&quot;:207.53488188976377,&quot;width&quot;:404.8852755905512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1"/>
</p:tagLst>
</file>

<file path=ppt/theme/theme1.xml><?xml version="1.0" encoding="utf-8"?>
<a:theme xmlns:a="http://schemas.openxmlformats.org/drawingml/2006/main" name="Office Theme">
  <a:themeElements>
    <a:clrScheme name="浙大蓝色">
      <a:dk1>
        <a:sysClr val="windowText" lastClr="000000"/>
      </a:dk1>
      <a:lt1>
        <a:sysClr val="window" lastClr="FFFFFF"/>
      </a:lt1>
      <a:dk2>
        <a:srgbClr val="44546A"/>
      </a:dk2>
      <a:lt2>
        <a:srgbClr val="FFFFFF"/>
      </a:lt2>
      <a:accent1>
        <a:srgbClr val="003E87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12C8267CAFD34A8506E7F7A07C6E1F" ma:contentTypeVersion="9" ma:contentTypeDescription="Create a new document." ma:contentTypeScope="" ma:versionID="15d584ca4d207e1ccc8d5a5fa97c1fb8">
  <xsd:schema xmlns:xsd="http://www.w3.org/2001/XMLSchema" xmlns:xs="http://www.w3.org/2001/XMLSchema" xmlns:p="http://schemas.microsoft.com/office/2006/metadata/properties" xmlns:ns3="f7b0863e-1339-49cb-b418-c995a7734aad" targetNamespace="http://schemas.microsoft.com/office/2006/metadata/properties" ma:root="true" ma:fieldsID="0b4f803646c19d2ed46be35a41d4795f" ns3:_="">
    <xsd:import namespace="f7b0863e-1339-49cb-b418-c995a7734aa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b0863e-1339-49cb-b418-c995a7734aa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7b0863e-1339-49cb-b418-c995a7734aad" xsi:nil="true"/>
  </documentManagement>
</p:properties>
</file>

<file path=customXml/itemProps1.xml><?xml version="1.0" encoding="utf-8"?>
<ds:datastoreItem xmlns:ds="http://schemas.openxmlformats.org/officeDocument/2006/customXml" ds:itemID="{C74C6B06-11A0-45A9-80D5-6D84A99723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7b0863e-1339-49cb-b418-c995a7734a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1615049-027E-4FF9-B02F-BD40154987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2087D50-B085-4B4E-AC0C-9C581E2159F4}">
  <ds:schemaRefs>
    <ds:schemaRef ds:uri="http://schemas.microsoft.com/office/2006/documentManagement/types"/>
    <ds:schemaRef ds:uri="http://purl.org/dc/terms/"/>
    <ds:schemaRef ds:uri="http://purl.org/dc/elements/1.1/"/>
    <ds:schemaRef ds:uri="http://schemas.openxmlformats.org/package/2006/metadata/core-properties"/>
    <ds:schemaRef ds:uri="http://purl.org/dc/dcmitype/"/>
    <ds:schemaRef ds:uri="http://www.w3.org/XML/1998/namespace"/>
    <ds:schemaRef ds:uri="http://schemas.microsoft.com/office/infopath/2007/PartnerControls"/>
    <ds:schemaRef ds:uri="f7b0863e-1339-49cb-b418-c995a7734aad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</TotalTime>
  <Words>449</Words>
  <Application>Microsoft Office PowerPoint</Application>
  <PresentationFormat>宽屏</PresentationFormat>
  <Paragraphs>125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等线</vt:lpstr>
      <vt:lpstr>微软雅黑</vt:lpstr>
      <vt:lpstr>Arial</vt:lpstr>
      <vt:lpstr>Calibri</vt:lpstr>
      <vt:lpstr>Calibri Light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博士学长的百宝箱</dc:creator>
  <cp:lastModifiedBy>Liu Hongxi</cp:lastModifiedBy>
  <cp:revision>942</cp:revision>
  <cp:lastPrinted>2025-05-19T03:25:00Z</cp:lastPrinted>
  <dcterms:created xsi:type="dcterms:W3CDTF">2025-05-19T03:25:00Z</dcterms:created>
  <dcterms:modified xsi:type="dcterms:W3CDTF">2026-04-09T07:14:34Z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A9D4122DB8614FE1A282DA7638465C5A_13</vt:lpwstr>
  </property>
  <property fmtid="{D5CDD505-2E9C-101B-9397-08002B2CF9AE}" pid="3" name="KSOProductBuildVer">
    <vt:lpwstr>2052-12.1.0.25225</vt:lpwstr>
  </property>
  <property fmtid="{D5CDD505-2E9C-101B-9397-08002B2CF9AE}" pid="4" name="ContentTypeId">
    <vt:lpwstr>0x010100F012C8267CAFD34A8506E7F7A07C6E1F</vt:lpwstr>
  </property>
</Properties>
</file>